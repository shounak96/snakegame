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20104100" cy="12065000"/>
  <p:notesSz cx="20104100" cy="12065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34" d="100"/>
          <a:sy n="34" d="100"/>
        </p:scale>
        <p:origin x="1068"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740150"/>
            <a:ext cx="17088486" cy="2533650"/>
          </a:xfrm>
          <a:prstGeom prst="rect">
            <a:avLst/>
          </a:prstGeom>
        </p:spPr>
        <p:txBody>
          <a:bodyPr wrap="square" lIns="0" tIns="0" rIns="0" bIns="0">
            <a:spAutoFit/>
          </a:bodyPr>
          <a:lstStyle>
            <a:lvl1pPr>
              <a:defRPr sz="2850" b="1" i="0">
                <a:solidFill>
                  <a:schemeClr val="bg1"/>
                </a:solidFill>
                <a:latin typeface="Trebuchet MS"/>
                <a:cs typeface="Trebuchet MS"/>
              </a:defRPr>
            </a:lvl1pPr>
          </a:lstStyle>
          <a:p>
            <a:endParaRPr/>
          </a:p>
        </p:txBody>
      </p:sp>
      <p:sp>
        <p:nvSpPr>
          <p:cNvPr id="3" name="Holder 3"/>
          <p:cNvSpPr>
            <a:spLocks noGrp="1"/>
          </p:cNvSpPr>
          <p:nvPr>
            <p:ph type="subTitle" idx="4"/>
          </p:nvPr>
        </p:nvSpPr>
        <p:spPr>
          <a:xfrm>
            <a:off x="3015615" y="6756400"/>
            <a:ext cx="14072870" cy="30162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50" b="1" i="0">
                <a:solidFill>
                  <a:schemeClr val="bg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50" b="1" i="0">
                <a:solidFill>
                  <a:schemeClr val="bg1"/>
                </a:solidFill>
                <a:latin typeface="Trebuchet MS"/>
                <a:cs typeface="Trebuchet MS"/>
              </a:defRPr>
            </a:lvl1pPr>
          </a:lstStyle>
          <a:p>
            <a:endParaRPr/>
          </a:p>
        </p:txBody>
      </p:sp>
      <p:sp>
        <p:nvSpPr>
          <p:cNvPr id="3" name="Holder 3"/>
          <p:cNvSpPr>
            <a:spLocks noGrp="1"/>
          </p:cNvSpPr>
          <p:nvPr>
            <p:ph sz="half" idx="2"/>
          </p:nvPr>
        </p:nvSpPr>
        <p:spPr>
          <a:xfrm>
            <a:off x="1005205" y="2774950"/>
            <a:ext cx="8745284" cy="796290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774950"/>
            <a:ext cx="8745284" cy="79629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50" b="1" i="0">
                <a:solidFill>
                  <a:schemeClr val="bg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5"/>
            <a:ext cx="20104100" cy="1445260"/>
          </a:xfrm>
          <a:custGeom>
            <a:avLst/>
            <a:gdLst/>
            <a:ahLst/>
            <a:cxnLst/>
            <a:rect l="l" t="t" r="r" b="b"/>
            <a:pathLst>
              <a:path w="20104100" h="1445260">
                <a:moveTo>
                  <a:pt x="20104099" y="0"/>
                </a:moveTo>
                <a:lnTo>
                  <a:pt x="0" y="0"/>
                </a:lnTo>
                <a:lnTo>
                  <a:pt x="0" y="1444992"/>
                </a:lnTo>
                <a:lnTo>
                  <a:pt x="20104099" y="1444992"/>
                </a:lnTo>
                <a:lnTo>
                  <a:pt x="20104099" y="0"/>
                </a:lnTo>
                <a:close/>
              </a:path>
            </a:pathLst>
          </a:custGeom>
          <a:solidFill>
            <a:srgbClr val="EB0024"/>
          </a:solidFill>
        </p:spPr>
        <p:txBody>
          <a:bodyPr wrap="square" lIns="0" tIns="0" rIns="0" bIns="0" rtlCol="0"/>
          <a:lstStyle/>
          <a:p>
            <a:endParaRPr/>
          </a:p>
        </p:txBody>
      </p:sp>
      <p:sp>
        <p:nvSpPr>
          <p:cNvPr id="2" name="Holder 2"/>
          <p:cNvSpPr>
            <a:spLocks noGrp="1"/>
          </p:cNvSpPr>
          <p:nvPr>
            <p:ph type="title"/>
          </p:nvPr>
        </p:nvSpPr>
        <p:spPr>
          <a:xfrm>
            <a:off x="6609975" y="192421"/>
            <a:ext cx="6884669" cy="462915"/>
          </a:xfrm>
          <a:prstGeom prst="rect">
            <a:avLst/>
          </a:prstGeom>
        </p:spPr>
        <p:txBody>
          <a:bodyPr wrap="square" lIns="0" tIns="0" rIns="0" bIns="0">
            <a:spAutoFit/>
          </a:bodyPr>
          <a:lstStyle>
            <a:lvl1pPr>
              <a:defRPr sz="2850" b="1" i="0">
                <a:solidFill>
                  <a:schemeClr val="bg1"/>
                </a:solidFill>
                <a:latin typeface="Trebuchet MS"/>
                <a:cs typeface="Trebuchet MS"/>
              </a:defRPr>
            </a:lvl1pPr>
          </a:lstStyle>
          <a:p>
            <a:endParaRPr/>
          </a:p>
        </p:txBody>
      </p:sp>
      <p:sp>
        <p:nvSpPr>
          <p:cNvPr id="3" name="Holder 3"/>
          <p:cNvSpPr>
            <a:spLocks noGrp="1"/>
          </p:cNvSpPr>
          <p:nvPr>
            <p:ph type="body" idx="1"/>
          </p:nvPr>
        </p:nvSpPr>
        <p:spPr>
          <a:xfrm>
            <a:off x="1005205" y="2774950"/>
            <a:ext cx="18093690" cy="79629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1220450"/>
            <a:ext cx="6433312" cy="6032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1220450"/>
            <a:ext cx="4623943" cy="6032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5/6/2025</a:t>
            </a:fld>
            <a:endParaRPr lang="en-US"/>
          </a:p>
        </p:txBody>
      </p:sp>
      <p:sp>
        <p:nvSpPr>
          <p:cNvPr id="6" name="Holder 6"/>
          <p:cNvSpPr>
            <a:spLocks noGrp="1"/>
          </p:cNvSpPr>
          <p:nvPr>
            <p:ph type="sldNum" sz="quarter" idx="7"/>
          </p:nvPr>
        </p:nvSpPr>
        <p:spPr>
          <a:xfrm>
            <a:off x="14474953" y="11220450"/>
            <a:ext cx="4623943" cy="6032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 TargetMode="External"/><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mailto:youremail@iastate.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6719" y="136464"/>
            <a:ext cx="7033159" cy="453970"/>
          </a:xfrm>
          <a:prstGeom prst="rect">
            <a:avLst/>
          </a:prstGeom>
        </p:spPr>
        <p:txBody>
          <a:bodyPr vert="horz" wrap="square" lIns="0" tIns="15240" rIns="0" bIns="0" rtlCol="0">
            <a:spAutoFit/>
          </a:bodyPr>
          <a:lstStyle/>
          <a:p>
            <a:pPr marL="12700">
              <a:lnSpc>
                <a:spcPct val="100000"/>
              </a:lnSpc>
              <a:spcBef>
                <a:spcPts val="120"/>
              </a:spcBef>
            </a:pPr>
            <a:r>
              <a:rPr lang="en-US" spc="-20" dirty="0"/>
              <a:t>           Vitrtual Snake Game</a:t>
            </a:r>
          </a:p>
        </p:txBody>
      </p:sp>
      <p:sp>
        <p:nvSpPr>
          <p:cNvPr id="3" name="object 3"/>
          <p:cNvSpPr txBox="1"/>
          <p:nvPr/>
        </p:nvSpPr>
        <p:spPr>
          <a:xfrm>
            <a:off x="8520004" y="565585"/>
            <a:ext cx="3061335" cy="689932"/>
          </a:xfrm>
          <a:prstGeom prst="rect">
            <a:avLst/>
          </a:prstGeom>
        </p:spPr>
        <p:txBody>
          <a:bodyPr vert="horz" wrap="square" lIns="0" tIns="154940" rIns="0" bIns="0" rtlCol="0">
            <a:spAutoFit/>
          </a:bodyPr>
          <a:lstStyle/>
          <a:p>
            <a:pPr algn="ctr">
              <a:lnSpc>
                <a:spcPct val="100000"/>
              </a:lnSpc>
              <a:spcBef>
                <a:spcPts val="1220"/>
              </a:spcBef>
              <a:tabLst>
                <a:tab pos="1069340" algn="l"/>
                <a:tab pos="2172335" algn="l"/>
              </a:tabLst>
            </a:pPr>
            <a:r>
              <a:rPr lang="en-IN" sz="1650" spc="-75" dirty="0">
                <a:solidFill>
                  <a:srgbClr val="FFFFFF"/>
                </a:solidFill>
                <a:latin typeface="Trebuchet MS"/>
                <a:cs typeface="Trebuchet MS"/>
              </a:rPr>
              <a:t>Shounak Powar   Ishani </a:t>
            </a:r>
            <a:r>
              <a:rPr lang="en-IN" sz="1650" spc="-75" dirty="0" err="1">
                <a:solidFill>
                  <a:srgbClr val="FFFFFF"/>
                </a:solidFill>
                <a:latin typeface="Trebuchet MS"/>
                <a:cs typeface="Trebuchet MS"/>
              </a:rPr>
              <a:t>Cheke</a:t>
            </a:r>
            <a:r>
              <a:rPr lang="en-IN" sz="1725" baseline="28985" dirty="0">
                <a:solidFill>
                  <a:srgbClr val="FFFFFF"/>
                </a:solidFill>
                <a:latin typeface="Trebuchet MS"/>
                <a:cs typeface="Trebuchet MS"/>
              </a:rPr>
              <a:t>	</a:t>
            </a:r>
            <a:endParaRPr lang="en-IN" sz="1725" baseline="28985" dirty="0">
              <a:latin typeface="Trebuchet MS"/>
              <a:cs typeface="Trebuchet MS"/>
            </a:endParaRPr>
          </a:p>
          <a:p>
            <a:pPr marL="2540" algn="ctr">
              <a:lnSpc>
                <a:spcPct val="100000"/>
              </a:lnSpc>
              <a:spcBef>
                <a:spcPts val="775"/>
              </a:spcBef>
              <a:tabLst>
                <a:tab pos="1365250" algn="l"/>
              </a:tabLst>
            </a:pPr>
            <a:r>
              <a:rPr lang="en-IN" sz="1150" dirty="0">
                <a:solidFill>
                  <a:srgbClr val="FFFFFF"/>
                </a:solidFill>
                <a:latin typeface="Trebuchet MS"/>
                <a:cs typeface="Trebuchet MS"/>
              </a:rPr>
              <a:t>	</a:t>
            </a:r>
            <a:endParaRPr lang="en-IN" sz="1150" dirty="0">
              <a:latin typeface="Trebuchet MS"/>
              <a:cs typeface="Trebuchet MS"/>
            </a:endParaRPr>
          </a:p>
        </p:txBody>
      </p:sp>
      <p:grpSp>
        <p:nvGrpSpPr>
          <p:cNvPr id="4" name="object 4"/>
          <p:cNvGrpSpPr/>
          <p:nvPr/>
        </p:nvGrpSpPr>
        <p:grpSpPr>
          <a:xfrm>
            <a:off x="0" y="336244"/>
            <a:ext cx="20104100" cy="1109345"/>
            <a:chOff x="0" y="336244"/>
            <a:chExt cx="20104100" cy="1109345"/>
          </a:xfrm>
        </p:grpSpPr>
        <p:sp>
          <p:nvSpPr>
            <p:cNvPr id="5" name="object 5"/>
            <p:cNvSpPr/>
            <p:nvPr/>
          </p:nvSpPr>
          <p:spPr>
            <a:xfrm>
              <a:off x="0" y="1408183"/>
              <a:ext cx="20104100" cy="36830"/>
            </a:xfrm>
            <a:custGeom>
              <a:avLst/>
              <a:gdLst/>
              <a:ahLst/>
              <a:cxnLst/>
              <a:rect l="l" t="t" r="r" b="b"/>
              <a:pathLst>
                <a:path w="20104100" h="36830">
                  <a:moveTo>
                    <a:pt x="20104099" y="0"/>
                  </a:moveTo>
                  <a:lnTo>
                    <a:pt x="0" y="0"/>
                  </a:lnTo>
                  <a:lnTo>
                    <a:pt x="0" y="36814"/>
                  </a:lnTo>
                  <a:lnTo>
                    <a:pt x="20104099" y="36814"/>
                  </a:lnTo>
                  <a:lnTo>
                    <a:pt x="20104099" y="0"/>
                  </a:lnTo>
                  <a:close/>
                </a:path>
              </a:pathLst>
            </a:custGeom>
            <a:solidFill>
              <a:srgbClr val="FFC138"/>
            </a:solidFill>
          </p:spPr>
          <p:txBody>
            <a:bodyPr wrap="square" lIns="0" tIns="0" rIns="0" bIns="0" rtlCol="0"/>
            <a:lstStyle/>
            <a:p>
              <a:endParaRPr/>
            </a:p>
          </p:txBody>
        </p:sp>
        <p:pic>
          <p:nvPicPr>
            <p:cNvPr id="6" name="object 6"/>
            <p:cNvPicPr/>
            <p:nvPr/>
          </p:nvPicPr>
          <p:blipFill>
            <a:blip r:embed="rId2" cstate="print"/>
            <a:stretch>
              <a:fillRect/>
            </a:stretch>
          </p:blipFill>
          <p:spPr>
            <a:xfrm>
              <a:off x="503782" y="336244"/>
              <a:ext cx="5588183" cy="418834"/>
            </a:xfrm>
            <a:prstGeom prst="rect">
              <a:avLst/>
            </a:prstGeom>
          </p:spPr>
        </p:pic>
      </p:grpSp>
      <p:sp>
        <p:nvSpPr>
          <p:cNvPr id="8" name="object 8"/>
          <p:cNvSpPr txBox="1"/>
          <p:nvPr/>
        </p:nvSpPr>
        <p:spPr>
          <a:xfrm>
            <a:off x="1874338" y="1631304"/>
            <a:ext cx="3215004" cy="225062"/>
          </a:xfrm>
          <a:prstGeom prst="rect">
            <a:avLst/>
          </a:prstGeom>
        </p:spPr>
        <p:txBody>
          <a:bodyPr vert="horz" wrap="square" lIns="0" tIns="17145" rIns="0" bIns="0" rtlCol="0">
            <a:spAutoFit/>
          </a:bodyPr>
          <a:lstStyle/>
          <a:p>
            <a:pPr marL="12700">
              <a:lnSpc>
                <a:spcPct val="100000"/>
              </a:lnSpc>
              <a:spcBef>
                <a:spcPts val="135"/>
              </a:spcBef>
            </a:pPr>
            <a:r>
              <a:rPr lang="en-US" sz="1350" b="1" spc="60" dirty="0">
                <a:solidFill>
                  <a:srgbClr val="EB0024"/>
                </a:solidFill>
                <a:latin typeface="Times New Roman" panose="02020603050405020304" pitchFamily="18" charset="0"/>
                <a:cs typeface="Times New Roman" panose="02020603050405020304" pitchFamily="18" charset="0"/>
              </a:rPr>
              <a:t>What is Gesture controlled Gaming</a:t>
            </a:r>
            <a:endParaRPr sz="1350" dirty="0">
              <a:latin typeface="Times New Roman" panose="02020603050405020304" pitchFamily="18" charset="0"/>
              <a:cs typeface="Times New Roman" panose="02020603050405020304" pitchFamily="18" charset="0"/>
            </a:endParaRPr>
          </a:p>
        </p:txBody>
      </p:sp>
      <p:sp>
        <p:nvSpPr>
          <p:cNvPr id="9" name="object 9"/>
          <p:cNvSpPr/>
          <p:nvPr/>
        </p:nvSpPr>
        <p:spPr>
          <a:xfrm>
            <a:off x="502558" y="1979295"/>
            <a:ext cx="6031865" cy="0"/>
          </a:xfrm>
          <a:custGeom>
            <a:avLst/>
            <a:gdLst/>
            <a:ahLst/>
            <a:cxnLst/>
            <a:rect l="l" t="t" r="r" b="b"/>
            <a:pathLst>
              <a:path w="6031865">
                <a:moveTo>
                  <a:pt x="0" y="0"/>
                </a:moveTo>
                <a:lnTo>
                  <a:pt x="6031291" y="0"/>
                </a:lnTo>
              </a:path>
            </a:pathLst>
          </a:custGeom>
          <a:ln w="4604">
            <a:solidFill>
              <a:srgbClr val="000000"/>
            </a:solidFill>
          </a:ln>
        </p:spPr>
        <p:txBody>
          <a:bodyPr wrap="square" lIns="0" tIns="0" rIns="0" bIns="0" rtlCol="0"/>
          <a:lstStyle/>
          <a:p>
            <a:endParaRPr/>
          </a:p>
        </p:txBody>
      </p:sp>
      <p:sp>
        <p:nvSpPr>
          <p:cNvPr id="10" name="object 10"/>
          <p:cNvSpPr txBox="1"/>
          <p:nvPr/>
        </p:nvSpPr>
        <p:spPr>
          <a:xfrm>
            <a:off x="489858" y="2041371"/>
            <a:ext cx="4914900" cy="189796"/>
          </a:xfrm>
          <a:prstGeom prst="rect">
            <a:avLst/>
          </a:prstGeom>
        </p:spPr>
        <p:txBody>
          <a:bodyPr vert="horz" wrap="square" lIns="0" tIns="12700" rIns="0" bIns="0" rtlCol="0">
            <a:spAutoFit/>
          </a:bodyPr>
          <a:lstStyle/>
          <a:p>
            <a:pPr marL="12700">
              <a:lnSpc>
                <a:spcPct val="100000"/>
              </a:lnSpc>
              <a:spcBef>
                <a:spcPts val="100"/>
              </a:spcBef>
            </a:pPr>
            <a:r>
              <a:rPr sz="1150" spc="-10" dirty="0">
                <a:latin typeface="Tahoma"/>
                <a:cs typeface="Tahoma"/>
              </a:rPr>
              <a:t>.</a:t>
            </a:r>
            <a:endParaRPr sz="1150" dirty="0">
              <a:latin typeface="Tahoma"/>
              <a:cs typeface="Tahoma"/>
            </a:endParaRPr>
          </a:p>
        </p:txBody>
      </p:sp>
      <p:sp>
        <p:nvSpPr>
          <p:cNvPr id="16" name="object 16"/>
          <p:cNvSpPr txBox="1"/>
          <p:nvPr/>
        </p:nvSpPr>
        <p:spPr>
          <a:xfrm>
            <a:off x="2297662" y="5742663"/>
            <a:ext cx="2441656" cy="232756"/>
          </a:xfrm>
          <a:prstGeom prst="rect">
            <a:avLst/>
          </a:prstGeom>
        </p:spPr>
        <p:txBody>
          <a:bodyPr vert="horz" wrap="square" lIns="0" tIns="17145" rIns="0" bIns="0" rtlCol="0">
            <a:spAutoFit/>
          </a:bodyPr>
          <a:lstStyle/>
          <a:p>
            <a:pPr marL="12700">
              <a:lnSpc>
                <a:spcPct val="100000"/>
              </a:lnSpc>
              <a:spcBef>
                <a:spcPts val="135"/>
              </a:spcBef>
            </a:pPr>
            <a:r>
              <a:rPr sz="1350" b="1" spc="75" dirty="0">
                <a:solidFill>
                  <a:srgbClr val="FF0000"/>
                </a:solidFill>
                <a:latin typeface="Times New Roman" panose="02020603050405020304" pitchFamily="18" charset="0"/>
                <a:cs typeface="Times New Roman" panose="02020603050405020304" pitchFamily="18" charset="0"/>
              </a:rPr>
              <a:t>A</a:t>
            </a:r>
            <a:r>
              <a:rPr sz="1350" b="1" spc="-55" dirty="0">
                <a:solidFill>
                  <a:srgbClr val="FF0000"/>
                </a:solidFill>
                <a:latin typeface="Times New Roman" panose="02020603050405020304" pitchFamily="18" charset="0"/>
                <a:cs typeface="Times New Roman" panose="02020603050405020304" pitchFamily="18" charset="0"/>
              </a:rPr>
              <a:t> </a:t>
            </a:r>
            <a:r>
              <a:rPr lang="en-IN" sz="1400" dirty="0">
                <a:solidFill>
                  <a:srgbClr val="FF0000"/>
                </a:solidFill>
                <a:latin typeface="Times New Roman" panose="02020603050405020304" pitchFamily="18" charset="0"/>
                <a:cs typeface="Times New Roman" panose="02020603050405020304" pitchFamily="18" charset="0"/>
              </a:rPr>
              <a:t>Gesture Detection Pipeline</a:t>
            </a:r>
            <a:endParaRPr sz="1350" dirty="0">
              <a:solidFill>
                <a:srgbClr val="FF0000"/>
              </a:solidFill>
              <a:latin typeface="Times New Roman" panose="02020603050405020304" pitchFamily="18" charset="0"/>
              <a:cs typeface="Times New Roman" panose="02020603050405020304" pitchFamily="18" charset="0"/>
            </a:endParaRPr>
          </a:p>
        </p:txBody>
      </p:sp>
      <p:sp>
        <p:nvSpPr>
          <p:cNvPr id="17" name="object 17"/>
          <p:cNvSpPr/>
          <p:nvPr/>
        </p:nvSpPr>
        <p:spPr>
          <a:xfrm>
            <a:off x="502558" y="6066487"/>
            <a:ext cx="6031865" cy="0"/>
          </a:xfrm>
          <a:custGeom>
            <a:avLst/>
            <a:gdLst/>
            <a:ahLst/>
            <a:cxnLst/>
            <a:rect l="l" t="t" r="r" b="b"/>
            <a:pathLst>
              <a:path w="6031865">
                <a:moveTo>
                  <a:pt x="0" y="0"/>
                </a:moveTo>
                <a:lnTo>
                  <a:pt x="6031291" y="0"/>
                </a:lnTo>
              </a:path>
            </a:pathLst>
          </a:custGeom>
          <a:ln w="4604">
            <a:solidFill>
              <a:srgbClr val="000000"/>
            </a:solidFill>
          </a:ln>
        </p:spPr>
        <p:txBody>
          <a:bodyPr wrap="square" lIns="0" tIns="0" rIns="0" bIns="0" rtlCol="0"/>
          <a:lstStyle/>
          <a:p>
            <a:endParaRPr/>
          </a:p>
        </p:txBody>
      </p:sp>
      <p:sp>
        <p:nvSpPr>
          <p:cNvPr id="22" name="object 22"/>
          <p:cNvSpPr/>
          <p:nvPr/>
        </p:nvSpPr>
        <p:spPr>
          <a:xfrm>
            <a:off x="502558" y="7714230"/>
            <a:ext cx="6031865" cy="466725"/>
          </a:xfrm>
          <a:custGeom>
            <a:avLst/>
            <a:gdLst/>
            <a:ahLst/>
            <a:cxnLst/>
            <a:rect l="l" t="t" r="r" b="b"/>
            <a:pathLst>
              <a:path w="6031865" h="466725">
                <a:moveTo>
                  <a:pt x="6031291" y="0"/>
                </a:moveTo>
                <a:lnTo>
                  <a:pt x="0" y="0"/>
                </a:lnTo>
                <a:lnTo>
                  <a:pt x="0" y="466323"/>
                </a:lnTo>
                <a:lnTo>
                  <a:pt x="6031291" y="466323"/>
                </a:lnTo>
                <a:lnTo>
                  <a:pt x="6031291" y="0"/>
                </a:lnTo>
                <a:close/>
              </a:path>
            </a:pathLst>
          </a:custGeom>
          <a:solidFill>
            <a:srgbClr val="D1DFA6"/>
          </a:solidFill>
        </p:spPr>
        <p:txBody>
          <a:bodyPr wrap="square" lIns="0" tIns="0" rIns="0" bIns="0" rtlCol="0"/>
          <a:lstStyle/>
          <a:p>
            <a:endParaRPr/>
          </a:p>
        </p:txBody>
      </p:sp>
      <p:sp>
        <p:nvSpPr>
          <p:cNvPr id="23" name="object 23"/>
          <p:cNvSpPr txBox="1"/>
          <p:nvPr/>
        </p:nvSpPr>
        <p:spPr>
          <a:xfrm>
            <a:off x="502558" y="7714230"/>
            <a:ext cx="6031865" cy="254557"/>
          </a:xfrm>
          <a:prstGeom prst="rect">
            <a:avLst/>
          </a:prstGeom>
          <a:solidFill>
            <a:srgbClr val="D1DFA6"/>
          </a:solidFill>
        </p:spPr>
        <p:txBody>
          <a:bodyPr vert="horz" wrap="square" lIns="0" tIns="46355" rIns="0" bIns="0" rtlCol="0">
            <a:spAutoFit/>
          </a:bodyPr>
          <a:lstStyle/>
          <a:p>
            <a:pPr algn="ctr">
              <a:lnSpc>
                <a:spcPct val="100000"/>
              </a:lnSpc>
              <a:spcBef>
                <a:spcPts val="365"/>
              </a:spcBef>
            </a:pPr>
            <a:r>
              <a:rPr sz="1350" b="1" spc="-114" dirty="0">
                <a:solidFill>
                  <a:srgbClr val="EB0024"/>
                </a:solidFill>
                <a:latin typeface="Times New Roman" panose="02020603050405020304" pitchFamily="18" charset="0"/>
                <a:cs typeface="Times New Roman" panose="02020603050405020304" pitchFamily="18" charset="0"/>
              </a:rPr>
              <a:t> </a:t>
            </a:r>
            <a:r>
              <a:rPr lang="en-US" sz="1350" b="1" spc="50" dirty="0">
                <a:solidFill>
                  <a:srgbClr val="EB0024"/>
                </a:solidFill>
                <a:latin typeface="Times New Roman" panose="02020603050405020304" pitchFamily="18" charset="0"/>
                <a:cs typeface="Times New Roman" panose="02020603050405020304" pitchFamily="18" charset="0"/>
              </a:rPr>
              <a:t>Game Mechanism </a:t>
            </a:r>
            <a:endParaRPr sz="1350" dirty="0">
              <a:latin typeface="Times New Roman" panose="02020603050405020304" pitchFamily="18" charset="0"/>
              <a:cs typeface="Times New Roman" panose="02020603050405020304" pitchFamily="18" charset="0"/>
            </a:endParaRPr>
          </a:p>
        </p:txBody>
      </p:sp>
      <p:grpSp>
        <p:nvGrpSpPr>
          <p:cNvPr id="24" name="object 24"/>
          <p:cNvGrpSpPr/>
          <p:nvPr/>
        </p:nvGrpSpPr>
        <p:grpSpPr>
          <a:xfrm>
            <a:off x="502558" y="8030182"/>
            <a:ext cx="6031865" cy="2507615"/>
            <a:chOff x="502558" y="8030182"/>
            <a:chExt cx="6031865" cy="2507615"/>
          </a:xfrm>
        </p:grpSpPr>
        <p:sp>
          <p:nvSpPr>
            <p:cNvPr id="25" name="object 25"/>
            <p:cNvSpPr/>
            <p:nvPr/>
          </p:nvSpPr>
          <p:spPr>
            <a:xfrm>
              <a:off x="502558" y="8032484"/>
              <a:ext cx="6031865" cy="0"/>
            </a:xfrm>
            <a:custGeom>
              <a:avLst/>
              <a:gdLst/>
              <a:ahLst/>
              <a:cxnLst/>
              <a:rect l="l" t="t" r="r" b="b"/>
              <a:pathLst>
                <a:path w="6031865">
                  <a:moveTo>
                    <a:pt x="0" y="0"/>
                  </a:moveTo>
                  <a:lnTo>
                    <a:pt x="6031291" y="0"/>
                  </a:lnTo>
                </a:path>
              </a:pathLst>
            </a:custGeom>
            <a:ln w="4604">
              <a:solidFill>
                <a:srgbClr val="000000"/>
              </a:solidFill>
            </a:ln>
          </p:spPr>
          <p:txBody>
            <a:bodyPr wrap="square" lIns="0" tIns="0" rIns="0" bIns="0" rtlCol="0"/>
            <a:lstStyle/>
            <a:p>
              <a:endParaRPr/>
            </a:p>
          </p:txBody>
        </p:sp>
        <p:sp>
          <p:nvSpPr>
            <p:cNvPr id="26" name="object 26"/>
            <p:cNvSpPr/>
            <p:nvPr/>
          </p:nvSpPr>
          <p:spPr>
            <a:xfrm>
              <a:off x="502558" y="8150003"/>
              <a:ext cx="6031865" cy="2388235"/>
            </a:xfrm>
            <a:custGeom>
              <a:avLst/>
              <a:gdLst/>
              <a:ahLst/>
              <a:cxnLst/>
              <a:rect l="l" t="t" r="r" b="b"/>
              <a:pathLst>
                <a:path w="6031865" h="2388234">
                  <a:moveTo>
                    <a:pt x="6031291" y="0"/>
                  </a:moveTo>
                  <a:lnTo>
                    <a:pt x="0" y="0"/>
                  </a:lnTo>
                  <a:lnTo>
                    <a:pt x="0" y="2387716"/>
                  </a:lnTo>
                  <a:lnTo>
                    <a:pt x="6031291" y="2387716"/>
                  </a:lnTo>
                  <a:lnTo>
                    <a:pt x="6031291" y="0"/>
                  </a:lnTo>
                  <a:close/>
                </a:path>
              </a:pathLst>
            </a:custGeom>
            <a:solidFill>
              <a:srgbClr val="D1DFA6"/>
            </a:solidFill>
          </p:spPr>
          <p:txBody>
            <a:bodyPr wrap="square" lIns="0" tIns="0" rIns="0" bIns="0" rtlCol="0"/>
            <a:lstStyle/>
            <a:p>
              <a:endParaRPr/>
            </a:p>
          </p:txBody>
        </p:sp>
        <p:sp>
          <p:nvSpPr>
            <p:cNvPr id="27" name="object 27"/>
            <p:cNvSpPr/>
            <p:nvPr/>
          </p:nvSpPr>
          <p:spPr>
            <a:xfrm>
              <a:off x="616356" y="9045003"/>
              <a:ext cx="36830" cy="743585"/>
            </a:xfrm>
            <a:custGeom>
              <a:avLst/>
              <a:gdLst/>
              <a:ahLst/>
              <a:cxnLst/>
              <a:rect l="l" t="t" r="r" b="b"/>
              <a:pathLst>
                <a:path w="36829" h="743584">
                  <a:moveTo>
                    <a:pt x="36449" y="706577"/>
                  </a:moveTo>
                  <a:lnTo>
                    <a:pt x="0" y="706577"/>
                  </a:lnTo>
                  <a:lnTo>
                    <a:pt x="0" y="743026"/>
                  </a:lnTo>
                  <a:lnTo>
                    <a:pt x="36449" y="743026"/>
                  </a:lnTo>
                  <a:lnTo>
                    <a:pt x="36449" y="706577"/>
                  </a:lnTo>
                  <a:close/>
                </a:path>
                <a:path w="36829" h="743584">
                  <a:moveTo>
                    <a:pt x="36449" y="353288"/>
                  </a:moveTo>
                  <a:lnTo>
                    <a:pt x="0" y="353288"/>
                  </a:lnTo>
                  <a:lnTo>
                    <a:pt x="0" y="389737"/>
                  </a:lnTo>
                  <a:lnTo>
                    <a:pt x="36449" y="389737"/>
                  </a:lnTo>
                  <a:lnTo>
                    <a:pt x="36449" y="353288"/>
                  </a:lnTo>
                  <a:close/>
                </a:path>
                <a:path w="36829" h="743584">
                  <a:moveTo>
                    <a:pt x="36449" y="0"/>
                  </a:moveTo>
                  <a:lnTo>
                    <a:pt x="0" y="0"/>
                  </a:lnTo>
                  <a:lnTo>
                    <a:pt x="0" y="36436"/>
                  </a:lnTo>
                  <a:lnTo>
                    <a:pt x="36449" y="36436"/>
                  </a:lnTo>
                  <a:lnTo>
                    <a:pt x="36449" y="0"/>
                  </a:lnTo>
                  <a:close/>
                </a:path>
              </a:pathLst>
            </a:custGeom>
            <a:solidFill>
              <a:srgbClr val="8B9651"/>
            </a:solidFill>
          </p:spPr>
          <p:txBody>
            <a:bodyPr wrap="square" lIns="0" tIns="0" rIns="0" bIns="0" rtlCol="0"/>
            <a:lstStyle/>
            <a:p>
              <a:endParaRPr/>
            </a:p>
          </p:txBody>
        </p:sp>
      </p:grpSp>
      <p:sp>
        <p:nvSpPr>
          <p:cNvPr id="28" name="object 28"/>
          <p:cNvSpPr txBox="1"/>
          <p:nvPr/>
        </p:nvSpPr>
        <p:spPr>
          <a:xfrm>
            <a:off x="502558" y="8020839"/>
            <a:ext cx="6031865" cy="2242280"/>
          </a:xfrm>
          <a:prstGeom prst="rect">
            <a:avLst/>
          </a:prstGeom>
        </p:spPr>
        <p:txBody>
          <a:bodyPr vert="horz" wrap="square" lIns="0" tIns="86995" rIns="0" bIns="0" rtlCol="0">
            <a:spAutoFit/>
          </a:bodyPr>
          <a:lstStyle/>
          <a:p>
            <a:pPr algn="just"/>
            <a:r>
              <a:rPr lang="en-US" sz="1400" dirty="0">
                <a:latin typeface="Times New Roman" panose="02020603050405020304" pitchFamily="18" charset="0"/>
                <a:cs typeface="Times New Roman" panose="02020603050405020304" pitchFamily="18" charset="0"/>
              </a:rPr>
              <a:t>The game retains the core mechanics of the classic Snake game, where the player navigates a continuously moving snake to consume food, grow in length, and avoid collisions. Unlike traditional keyboard-controlled versions, directional input in this version is managed through swipe-like gestures of the index finger, detected via a webcam. The snake turns only when a valid gesture is registered, preserving the continuous motion and strategic challenge of the original. Each food item consumed increases both the snake’s length and the player's score, progressively raising the difficulty as space for movement becomes limited. The game concludes with a game-over state if the snake collides with the screen boundary, its own body, or predefined obstacles.</a:t>
            </a:r>
          </a:p>
        </p:txBody>
      </p:sp>
      <p:sp>
        <p:nvSpPr>
          <p:cNvPr id="29" name="object 29"/>
          <p:cNvSpPr txBox="1"/>
          <p:nvPr/>
        </p:nvSpPr>
        <p:spPr>
          <a:xfrm>
            <a:off x="9122818" y="1688844"/>
            <a:ext cx="3215005" cy="225062"/>
          </a:xfrm>
          <a:prstGeom prst="rect">
            <a:avLst/>
          </a:prstGeom>
        </p:spPr>
        <p:txBody>
          <a:bodyPr vert="horz" wrap="square" lIns="0" tIns="17145" rIns="0" bIns="0" rtlCol="0">
            <a:spAutoFit/>
          </a:bodyPr>
          <a:lstStyle/>
          <a:p>
            <a:pPr marL="12700">
              <a:lnSpc>
                <a:spcPct val="100000"/>
              </a:lnSpc>
              <a:spcBef>
                <a:spcPts val="135"/>
              </a:spcBef>
            </a:pPr>
            <a:r>
              <a:rPr sz="1350" b="1" spc="75" dirty="0">
                <a:solidFill>
                  <a:srgbClr val="EB0024"/>
                </a:solidFill>
                <a:latin typeface="Times New Roman" panose="02020603050405020304" pitchFamily="18" charset="0"/>
                <a:cs typeface="Times New Roman" panose="02020603050405020304" pitchFamily="18" charset="0"/>
              </a:rPr>
              <a:t>A</a:t>
            </a:r>
            <a:r>
              <a:rPr sz="1350" b="1" dirty="0">
                <a:solidFill>
                  <a:srgbClr val="EB0024"/>
                </a:solidFill>
                <a:latin typeface="Times New Roman" panose="02020603050405020304" pitchFamily="18" charset="0"/>
                <a:cs typeface="Times New Roman" panose="02020603050405020304" pitchFamily="18" charset="0"/>
              </a:rPr>
              <a:t> </a:t>
            </a:r>
            <a:r>
              <a:rPr lang="en-US" sz="1350" b="1" spc="60" dirty="0">
                <a:solidFill>
                  <a:srgbClr val="EB0024"/>
                </a:solidFill>
                <a:latin typeface="Times New Roman" panose="02020603050405020304" pitchFamily="18" charset="0"/>
                <a:cs typeface="Times New Roman" panose="02020603050405020304" pitchFamily="18" charset="0"/>
              </a:rPr>
              <a:t>Food Consumption</a:t>
            </a:r>
            <a:endParaRPr sz="1350" dirty="0">
              <a:latin typeface="Times New Roman" panose="02020603050405020304" pitchFamily="18" charset="0"/>
              <a:cs typeface="Times New Roman" panose="02020603050405020304" pitchFamily="18" charset="0"/>
            </a:endParaRPr>
          </a:p>
        </p:txBody>
      </p:sp>
      <p:sp>
        <p:nvSpPr>
          <p:cNvPr id="30" name="object 30"/>
          <p:cNvSpPr/>
          <p:nvPr/>
        </p:nvSpPr>
        <p:spPr>
          <a:xfrm>
            <a:off x="7036403" y="1979295"/>
            <a:ext cx="6031865" cy="0"/>
          </a:xfrm>
          <a:custGeom>
            <a:avLst/>
            <a:gdLst/>
            <a:ahLst/>
            <a:cxnLst/>
            <a:rect l="l" t="t" r="r" b="b"/>
            <a:pathLst>
              <a:path w="6031865">
                <a:moveTo>
                  <a:pt x="0" y="0"/>
                </a:moveTo>
                <a:lnTo>
                  <a:pt x="6031291" y="0"/>
                </a:lnTo>
              </a:path>
            </a:pathLst>
          </a:custGeom>
          <a:ln w="4604">
            <a:solidFill>
              <a:srgbClr val="000000"/>
            </a:solidFill>
          </a:ln>
        </p:spPr>
        <p:txBody>
          <a:bodyPr wrap="square" lIns="0" tIns="0" rIns="0" bIns="0" rtlCol="0"/>
          <a:lstStyle/>
          <a:p>
            <a:endParaRPr/>
          </a:p>
        </p:txBody>
      </p:sp>
      <p:sp>
        <p:nvSpPr>
          <p:cNvPr id="31" name="object 31"/>
          <p:cNvSpPr txBox="1"/>
          <p:nvPr/>
        </p:nvSpPr>
        <p:spPr>
          <a:xfrm>
            <a:off x="7023703" y="2041371"/>
            <a:ext cx="6057265" cy="2343142"/>
          </a:xfrm>
          <a:prstGeom prst="rect">
            <a:avLst/>
          </a:prstGeom>
        </p:spPr>
        <p:txBody>
          <a:bodyPr vert="horz" wrap="square" lIns="0" tIns="11430" rIns="0" bIns="0" rtlCol="0">
            <a:spAutoFit/>
          </a:bodyPr>
          <a:lstStyle/>
          <a:p>
            <a:pPr lvl="8" algn="just"/>
            <a:r>
              <a:rPr lang="en-US" sz="1400" dirty="0">
                <a:latin typeface="Times New Roman" panose="02020603050405020304" pitchFamily="18" charset="0"/>
                <a:cs typeface="Times New Roman" panose="02020603050405020304" pitchFamily="18" charset="0"/>
              </a:rPr>
              <a:t>The food in the game is represented as a small image (e.g., food.png) and is randomly placed on the screen using Python’s </a:t>
            </a:r>
            <a:r>
              <a:rPr lang="en-US" sz="1400" dirty="0" err="1">
                <a:latin typeface="Times New Roman" panose="02020603050405020304" pitchFamily="18" charset="0"/>
                <a:cs typeface="Times New Roman" panose="02020603050405020304" pitchFamily="18" charset="0"/>
              </a:rPr>
              <a:t>random.randint</a:t>
            </a:r>
            <a:r>
              <a:rPr lang="en-US" sz="1400" dirty="0">
                <a:latin typeface="Times New Roman" panose="02020603050405020304" pitchFamily="18" charset="0"/>
                <a:cs typeface="Times New Roman" panose="02020603050405020304" pitchFamily="18" charset="0"/>
              </a:rPr>
              <a:t>() function. The food appears within the bounds of the play area and not overlapping any snake segment. In each frame, the game checks whether the head of the snake has collided with the food. This is determined by comparing the coordinates of the head and the food, allowing for a small tolerance to account for frame rate differences.</a:t>
            </a:r>
          </a:p>
          <a:p>
            <a:pPr lvl="8"/>
            <a:r>
              <a:rPr lang="en-US" sz="1400" dirty="0">
                <a:latin typeface="Times New Roman" panose="02020603050405020304" pitchFamily="18" charset="0"/>
                <a:cs typeface="Times New Roman" panose="02020603050405020304" pitchFamily="18" charset="0"/>
              </a:rPr>
              <a:t>                            </a:t>
            </a:r>
          </a:p>
          <a:p>
            <a:pPr lvl="8"/>
            <a:r>
              <a:rPr lang="en-US" sz="1400" dirty="0">
                <a:latin typeface="Times New Roman" panose="02020603050405020304" pitchFamily="18" charset="0"/>
                <a:cs typeface="Times New Roman" panose="02020603050405020304" pitchFamily="18" charset="0"/>
              </a:rPr>
              <a:t> 	         distance = </a:t>
            </a:r>
            <a:r>
              <a:rPr lang="en-US" sz="1400" dirty="0" err="1">
                <a:latin typeface="Times New Roman" panose="02020603050405020304" pitchFamily="18" charset="0"/>
                <a:cs typeface="Times New Roman" panose="02020603050405020304" pitchFamily="18" charset="0"/>
              </a:rPr>
              <a:t>math.hypot</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food_x</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head_x</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food_y</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head_y</a:t>
            </a:r>
            <a:r>
              <a:rPr lang="en-US" sz="1400" dirty="0">
                <a:latin typeface="Times New Roman" panose="02020603050405020304" pitchFamily="18" charset="0"/>
                <a:cs typeface="Times New Roman" panose="02020603050405020304" pitchFamily="18" charset="0"/>
              </a:rPr>
              <a:t>)</a:t>
            </a:r>
          </a:p>
          <a:p>
            <a:pPr lvl="8"/>
            <a:r>
              <a:rPr lang="en-US" sz="1400" dirty="0">
                <a:latin typeface="Times New Roman" panose="02020603050405020304" pitchFamily="18" charset="0"/>
                <a:cs typeface="Times New Roman" panose="02020603050405020304" pitchFamily="18" charset="0"/>
              </a:rPr>
              <a:t>                              If distance &lt; threshold:</a:t>
            </a:r>
          </a:p>
          <a:p>
            <a:pPr lvl="8"/>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food_eaten</a:t>
            </a:r>
            <a:r>
              <a:rPr lang="en-US" sz="1400" dirty="0">
                <a:latin typeface="Times New Roman" panose="02020603050405020304" pitchFamily="18" charset="0"/>
                <a:cs typeface="Times New Roman" panose="02020603050405020304" pitchFamily="18" charset="0"/>
              </a:rPr>
              <a:t> = True</a:t>
            </a:r>
          </a:p>
          <a:p>
            <a:pPr marL="12700" marR="5080" algn="just">
              <a:lnSpc>
                <a:spcPct val="100800"/>
              </a:lnSpc>
              <a:spcBef>
                <a:spcPts val="90"/>
              </a:spcBef>
            </a:pPr>
            <a:endParaRPr lang="en-IN" sz="1150" dirty="0">
              <a:latin typeface="Tahoma"/>
              <a:cs typeface="Tahoma"/>
            </a:endParaRPr>
          </a:p>
        </p:txBody>
      </p:sp>
      <p:sp>
        <p:nvSpPr>
          <p:cNvPr id="32" name="object 32"/>
          <p:cNvSpPr txBox="1"/>
          <p:nvPr/>
        </p:nvSpPr>
        <p:spPr>
          <a:xfrm>
            <a:off x="8520004" y="4575719"/>
            <a:ext cx="3513245" cy="225062"/>
          </a:xfrm>
          <a:prstGeom prst="rect">
            <a:avLst/>
          </a:prstGeom>
        </p:spPr>
        <p:txBody>
          <a:bodyPr vert="horz" wrap="square" lIns="0" tIns="17145" rIns="0" bIns="0" rtlCol="0">
            <a:spAutoFit/>
          </a:bodyPr>
          <a:lstStyle/>
          <a:p>
            <a:pPr marL="12700">
              <a:lnSpc>
                <a:spcPct val="100000"/>
              </a:lnSpc>
              <a:spcBef>
                <a:spcPts val="135"/>
              </a:spcBef>
            </a:pPr>
            <a:r>
              <a:rPr lang="en-US" sz="1350" b="1" dirty="0" err="1">
                <a:solidFill>
                  <a:srgbClr val="EB0024"/>
                </a:solidFill>
                <a:latin typeface="Times New Roman" panose="02020603050405020304" pitchFamily="18" charset="0"/>
                <a:cs typeface="Times New Roman" panose="02020603050405020304" pitchFamily="18" charset="0"/>
              </a:rPr>
              <a:t>Mediapipe’s</a:t>
            </a:r>
            <a:r>
              <a:rPr lang="en-US" sz="1350" b="1" dirty="0">
                <a:solidFill>
                  <a:srgbClr val="EB0024"/>
                </a:solidFill>
                <a:latin typeface="Times New Roman" panose="02020603050405020304" pitchFamily="18" charset="0"/>
                <a:cs typeface="Times New Roman" panose="02020603050405020304" pitchFamily="18" charset="0"/>
              </a:rPr>
              <a:t> Hand Detection Landmarks</a:t>
            </a:r>
            <a:endParaRPr sz="1350" dirty="0">
              <a:latin typeface="Times New Roman" panose="02020603050405020304" pitchFamily="18" charset="0"/>
              <a:cs typeface="Times New Roman" panose="02020603050405020304" pitchFamily="18" charset="0"/>
            </a:endParaRPr>
          </a:p>
        </p:txBody>
      </p:sp>
      <p:sp>
        <p:nvSpPr>
          <p:cNvPr id="33" name="object 33"/>
          <p:cNvSpPr/>
          <p:nvPr/>
        </p:nvSpPr>
        <p:spPr>
          <a:xfrm>
            <a:off x="7036403" y="4906273"/>
            <a:ext cx="6031865" cy="0"/>
          </a:xfrm>
          <a:custGeom>
            <a:avLst/>
            <a:gdLst/>
            <a:ahLst/>
            <a:cxnLst/>
            <a:rect l="l" t="t" r="r" b="b"/>
            <a:pathLst>
              <a:path w="6031865">
                <a:moveTo>
                  <a:pt x="0" y="0"/>
                </a:moveTo>
                <a:lnTo>
                  <a:pt x="6031291" y="0"/>
                </a:lnTo>
              </a:path>
            </a:pathLst>
          </a:custGeom>
          <a:ln w="4604">
            <a:solidFill>
              <a:srgbClr val="000000"/>
            </a:solidFill>
          </a:ln>
        </p:spPr>
        <p:txBody>
          <a:bodyPr wrap="square" lIns="0" tIns="0" rIns="0" bIns="0" rtlCol="0"/>
          <a:lstStyle/>
          <a:p>
            <a:endParaRPr/>
          </a:p>
        </p:txBody>
      </p:sp>
      <p:sp>
        <p:nvSpPr>
          <p:cNvPr id="34" name="object 34"/>
          <p:cNvSpPr txBox="1"/>
          <p:nvPr/>
        </p:nvSpPr>
        <p:spPr>
          <a:xfrm>
            <a:off x="7023703" y="4968354"/>
            <a:ext cx="6057265" cy="175882"/>
          </a:xfrm>
          <a:prstGeom prst="rect">
            <a:avLst/>
          </a:prstGeom>
        </p:spPr>
        <p:txBody>
          <a:bodyPr vert="horz" wrap="square" lIns="0" tIns="11430" rIns="0" bIns="0" rtlCol="0">
            <a:spAutoFit/>
          </a:bodyPr>
          <a:lstStyle/>
          <a:p>
            <a:pPr marL="12700" marR="5080" algn="just">
              <a:lnSpc>
                <a:spcPct val="100800"/>
              </a:lnSpc>
              <a:spcBef>
                <a:spcPts val="90"/>
              </a:spcBef>
            </a:pPr>
            <a:r>
              <a:rPr sz="1150" spc="-60" dirty="0">
                <a:latin typeface="Tahoma"/>
                <a:cs typeface="Tahoma"/>
              </a:rPr>
              <a:t>Et</a:t>
            </a:r>
            <a:endParaRPr sz="1150" dirty="0">
              <a:latin typeface="Tahoma"/>
              <a:cs typeface="Tahoma"/>
            </a:endParaRPr>
          </a:p>
        </p:txBody>
      </p:sp>
      <p:sp>
        <p:nvSpPr>
          <p:cNvPr id="40" name="object 40"/>
          <p:cNvSpPr txBox="1"/>
          <p:nvPr/>
        </p:nvSpPr>
        <p:spPr>
          <a:xfrm>
            <a:off x="9122818" y="7482355"/>
            <a:ext cx="2666365" cy="225062"/>
          </a:xfrm>
          <a:prstGeom prst="rect">
            <a:avLst/>
          </a:prstGeom>
        </p:spPr>
        <p:txBody>
          <a:bodyPr vert="horz" wrap="square" lIns="0" tIns="17145" rIns="0" bIns="0" rtlCol="0">
            <a:spAutoFit/>
          </a:bodyPr>
          <a:lstStyle/>
          <a:p>
            <a:pPr marL="12700">
              <a:lnSpc>
                <a:spcPct val="100000"/>
              </a:lnSpc>
              <a:spcBef>
                <a:spcPts val="135"/>
              </a:spcBef>
            </a:pPr>
            <a:r>
              <a:rPr lang="en-US" sz="1350" b="1" spc="110" dirty="0">
                <a:solidFill>
                  <a:srgbClr val="EB0024"/>
                </a:solidFill>
                <a:latin typeface="Times New Roman" panose="02020603050405020304" pitchFamily="18" charset="0"/>
                <a:cs typeface="Times New Roman" panose="02020603050405020304" pitchFamily="18" charset="0"/>
              </a:rPr>
              <a:t>snake’s Growth</a:t>
            </a:r>
            <a:endParaRPr sz="1350" dirty="0">
              <a:latin typeface="Times New Roman" panose="02020603050405020304" pitchFamily="18" charset="0"/>
              <a:cs typeface="Times New Roman" panose="02020603050405020304" pitchFamily="18" charset="0"/>
            </a:endParaRPr>
          </a:p>
        </p:txBody>
      </p:sp>
      <p:sp>
        <p:nvSpPr>
          <p:cNvPr id="41" name="object 41"/>
          <p:cNvSpPr/>
          <p:nvPr/>
        </p:nvSpPr>
        <p:spPr>
          <a:xfrm>
            <a:off x="7036403" y="7772606"/>
            <a:ext cx="6031865" cy="0"/>
          </a:xfrm>
          <a:custGeom>
            <a:avLst/>
            <a:gdLst/>
            <a:ahLst/>
            <a:cxnLst/>
            <a:rect l="l" t="t" r="r" b="b"/>
            <a:pathLst>
              <a:path w="6031865">
                <a:moveTo>
                  <a:pt x="0" y="0"/>
                </a:moveTo>
                <a:lnTo>
                  <a:pt x="6031291" y="0"/>
                </a:lnTo>
              </a:path>
            </a:pathLst>
          </a:custGeom>
          <a:ln w="4604">
            <a:solidFill>
              <a:srgbClr val="000000"/>
            </a:solidFill>
          </a:ln>
        </p:spPr>
        <p:txBody>
          <a:bodyPr wrap="square" lIns="0" tIns="0" rIns="0" bIns="0" rtlCol="0"/>
          <a:lstStyle/>
          <a:p>
            <a:endParaRPr/>
          </a:p>
        </p:txBody>
      </p:sp>
      <p:sp>
        <p:nvSpPr>
          <p:cNvPr id="42" name="object 42"/>
          <p:cNvSpPr/>
          <p:nvPr/>
        </p:nvSpPr>
        <p:spPr>
          <a:xfrm>
            <a:off x="7193385" y="9523359"/>
            <a:ext cx="36830" cy="36830"/>
          </a:xfrm>
          <a:custGeom>
            <a:avLst/>
            <a:gdLst/>
            <a:ahLst/>
            <a:cxnLst/>
            <a:rect l="l" t="t" r="r" b="b"/>
            <a:pathLst>
              <a:path w="36829" h="36829">
                <a:moveTo>
                  <a:pt x="36442" y="0"/>
                </a:moveTo>
                <a:lnTo>
                  <a:pt x="0" y="0"/>
                </a:lnTo>
                <a:lnTo>
                  <a:pt x="0" y="36442"/>
                </a:lnTo>
                <a:lnTo>
                  <a:pt x="36442" y="36442"/>
                </a:lnTo>
                <a:lnTo>
                  <a:pt x="36442" y="0"/>
                </a:lnTo>
                <a:close/>
              </a:path>
            </a:pathLst>
          </a:custGeom>
          <a:solidFill>
            <a:srgbClr val="8B9651"/>
          </a:solidFill>
        </p:spPr>
        <p:txBody>
          <a:bodyPr wrap="square" lIns="0" tIns="0" rIns="0" bIns="0" rtlCol="0"/>
          <a:lstStyle/>
          <a:p>
            <a:endParaRPr/>
          </a:p>
        </p:txBody>
      </p:sp>
      <p:sp>
        <p:nvSpPr>
          <p:cNvPr id="49" name="object 49"/>
          <p:cNvSpPr/>
          <p:nvPr/>
        </p:nvSpPr>
        <p:spPr>
          <a:xfrm>
            <a:off x="13570249" y="1661035"/>
            <a:ext cx="6031865" cy="466725"/>
          </a:xfrm>
          <a:custGeom>
            <a:avLst/>
            <a:gdLst/>
            <a:ahLst/>
            <a:cxnLst/>
            <a:rect l="l" t="t" r="r" b="b"/>
            <a:pathLst>
              <a:path w="6031865" h="466725">
                <a:moveTo>
                  <a:pt x="6031291" y="0"/>
                </a:moveTo>
                <a:lnTo>
                  <a:pt x="0" y="0"/>
                </a:lnTo>
                <a:lnTo>
                  <a:pt x="0" y="466323"/>
                </a:lnTo>
                <a:lnTo>
                  <a:pt x="6031291" y="466323"/>
                </a:lnTo>
                <a:lnTo>
                  <a:pt x="6031291" y="0"/>
                </a:lnTo>
                <a:close/>
              </a:path>
            </a:pathLst>
          </a:custGeom>
          <a:solidFill>
            <a:srgbClr val="FFC138"/>
          </a:solidFill>
        </p:spPr>
        <p:txBody>
          <a:bodyPr wrap="square" lIns="0" tIns="0" rIns="0" bIns="0" rtlCol="0"/>
          <a:lstStyle/>
          <a:p>
            <a:endParaRPr/>
          </a:p>
        </p:txBody>
      </p:sp>
      <p:sp>
        <p:nvSpPr>
          <p:cNvPr id="50" name="object 50"/>
          <p:cNvSpPr txBox="1"/>
          <p:nvPr/>
        </p:nvSpPr>
        <p:spPr>
          <a:xfrm>
            <a:off x="13557250" y="1661035"/>
            <a:ext cx="6031865" cy="254557"/>
          </a:xfrm>
          <a:prstGeom prst="rect">
            <a:avLst/>
          </a:prstGeom>
          <a:solidFill>
            <a:srgbClr val="FFC138"/>
          </a:solidFill>
        </p:spPr>
        <p:txBody>
          <a:bodyPr vert="horz" wrap="square" lIns="0" tIns="46355" rIns="0" bIns="0" rtlCol="0">
            <a:spAutoFit/>
          </a:bodyPr>
          <a:lstStyle/>
          <a:p>
            <a:pPr algn="ctr">
              <a:lnSpc>
                <a:spcPct val="100000"/>
              </a:lnSpc>
              <a:spcBef>
                <a:spcPts val="365"/>
              </a:spcBef>
            </a:pPr>
            <a:r>
              <a:rPr lang="en-US" sz="1350" b="1" spc="75" dirty="0">
                <a:solidFill>
                  <a:srgbClr val="EB0024"/>
                </a:solidFill>
                <a:latin typeface="Trebuchet MS"/>
                <a:cs typeface="Trebuchet MS"/>
              </a:rPr>
              <a:t>Collision Detection</a:t>
            </a:r>
            <a:endParaRPr sz="1350" dirty="0">
              <a:latin typeface="Trebuchet MS"/>
              <a:cs typeface="Trebuchet MS"/>
            </a:endParaRPr>
          </a:p>
        </p:txBody>
      </p:sp>
      <p:grpSp>
        <p:nvGrpSpPr>
          <p:cNvPr id="51" name="object 51"/>
          <p:cNvGrpSpPr/>
          <p:nvPr/>
        </p:nvGrpSpPr>
        <p:grpSpPr>
          <a:xfrm>
            <a:off x="13567480" y="1998263"/>
            <a:ext cx="6036945" cy="3302000"/>
            <a:chOff x="13567709" y="1976755"/>
            <a:chExt cx="6036945" cy="3302000"/>
          </a:xfrm>
        </p:grpSpPr>
        <p:sp>
          <p:nvSpPr>
            <p:cNvPr id="52" name="object 52"/>
            <p:cNvSpPr/>
            <p:nvPr/>
          </p:nvSpPr>
          <p:spPr>
            <a:xfrm>
              <a:off x="13570249" y="1979295"/>
              <a:ext cx="6031865" cy="0"/>
            </a:xfrm>
            <a:custGeom>
              <a:avLst/>
              <a:gdLst/>
              <a:ahLst/>
              <a:cxnLst/>
              <a:rect l="l" t="t" r="r" b="b"/>
              <a:pathLst>
                <a:path w="6031865">
                  <a:moveTo>
                    <a:pt x="0" y="0"/>
                  </a:moveTo>
                  <a:lnTo>
                    <a:pt x="6031291" y="0"/>
                  </a:lnTo>
                </a:path>
              </a:pathLst>
            </a:custGeom>
            <a:ln w="4604">
              <a:solidFill>
                <a:srgbClr val="000000"/>
              </a:solidFill>
            </a:ln>
          </p:spPr>
          <p:txBody>
            <a:bodyPr wrap="square" lIns="0" tIns="0" rIns="0" bIns="0" rtlCol="0"/>
            <a:lstStyle/>
            <a:p>
              <a:endParaRPr/>
            </a:p>
          </p:txBody>
        </p:sp>
        <p:sp>
          <p:nvSpPr>
            <p:cNvPr id="53" name="object 53"/>
            <p:cNvSpPr/>
            <p:nvPr/>
          </p:nvSpPr>
          <p:spPr>
            <a:xfrm>
              <a:off x="13570249" y="2096808"/>
              <a:ext cx="6031865" cy="3181985"/>
            </a:xfrm>
            <a:custGeom>
              <a:avLst/>
              <a:gdLst/>
              <a:ahLst/>
              <a:cxnLst/>
              <a:rect l="l" t="t" r="r" b="b"/>
              <a:pathLst>
                <a:path w="6031865" h="3181985">
                  <a:moveTo>
                    <a:pt x="6031291" y="0"/>
                  </a:moveTo>
                  <a:lnTo>
                    <a:pt x="0" y="0"/>
                  </a:lnTo>
                  <a:lnTo>
                    <a:pt x="0" y="3181880"/>
                  </a:lnTo>
                  <a:lnTo>
                    <a:pt x="6031291" y="3181880"/>
                  </a:lnTo>
                  <a:lnTo>
                    <a:pt x="6031291" y="0"/>
                  </a:lnTo>
                  <a:close/>
                </a:path>
              </a:pathLst>
            </a:custGeom>
            <a:solidFill>
              <a:srgbClr val="FFC138"/>
            </a:solidFill>
          </p:spPr>
          <p:txBody>
            <a:bodyPr wrap="square" lIns="0" tIns="0" rIns="0" bIns="0" rtlCol="0"/>
            <a:lstStyle/>
            <a:p>
              <a:endParaRPr/>
            </a:p>
          </p:txBody>
        </p:sp>
      </p:grpSp>
      <p:sp>
        <p:nvSpPr>
          <p:cNvPr id="55" name="object 55"/>
          <p:cNvSpPr txBox="1"/>
          <p:nvPr/>
        </p:nvSpPr>
        <p:spPr>
          <a:xfrm>
            <a:off x="16075697" y="2660878"/>
            <a:ext cx="230504" cy="160300"/>
          </a:xfrm>
          <a:prstGeom prst="rect">
            <a:avLst/>
          </a:prstGeom>
        </p:spPr>
        <p:txBody>
          <a:bodyPr vert="horz" wrap="square" lIns="0" tIns="13970" rIns="0" bIns="0" rtlCol="0">
            <a:spAutoFit/>
          </a:bodyPr>
          <a:lstStyle/>
          <a:p>
            <a:pPr>
              <a:lnSpc>
                <a:spcPct val="100000"/>
              </a:lnSpc>
              <a:spcBef>
                <a:spcPts val="110"/>
              </a:spcBef>
            </a:pPr>
            <a:r>
              <a:rPr sz="950" spc="155" dirty="0">
                <a:latin typeface="Cambria"/>
                <a:cs typeface="Cambria"/>
              </a:rPr>
              <a:t>∞</a:t>
            </a:r>
            <a:endParaRPr sz="950" dirty="0">
              <a:latin typeface="Cambria"/>
              <a:cs typeface="Cambria"/>
            </a:endParaRPr>
          </a:p>
        </p:txBody>
      </p:sp>
      <p:sp>
        <p:nvSpPr>
          <p:cNvPr id="56" name="object 56"/>
          <p:cNvSpPr/>
          <p:nvPr/>
        </p:nvSpPr>
        <p:spPr>
          <a:xfrm>
            <a:off x="17091517" y="2546506"/>
            <a:ext cx="86995" cy="0"/>
          </a:xfrm>
          <a:custGeom>
            <a:avLst/>
            <a:gdLst/>
            <a:ahLst/>
            <a:cxnLst/>
            <a:rect l="l" t="t" r="r" b="b"/>
            <a:pathLst>
              <a:path w="86994">
                <a:moveTo>
                  <a:pt x="0" y="0"/>
                </a:moveTo>
                <a:lnTo>
                  <a:pt x="86626" y="0"/>
                </a:lnTo>
              </a:path>
            </a:pathLst>
          </a:custGeom>
          <a:ln w="5857">
            <a:solidFill>
              <a:srgbClr val="000000"/>
            </a:solidFill>
          </a:ln>
        </p:spPr>
        <p:txBody>
          <a:bodyPr wrap="square" lIns="0" tIns="0" rIns="0" bIns="0" rtlCol="0"/>
          <a:lstStyle/>
          <a:p>
            <a:endParaRPr/>
          </a:p>
        </p:txBody>
      </p:sp>
      <p:sp>
        <p:nvSpPr>
          <p:cNvPr id="59" name="object 59"/>
          <p:cNvSpPr txBox="1"/>
          <p:nvPr/>
        </p:nvSpPr>
        <p:spPr>
          <a:xfrm>
            <a:off x="13617734" y="2132167"/>
            <a:ext cx="5959708" cy="3226524"/>
          </a:xfrm>
          <a:prstGeom prst="rect">
            <a:avLst/>
          </a:prstGeom>
        </p:spPr>
        <p:txBody>
          <a:bodyPr vert="horz" wrap="square" lIns="0" tIns="12700" rIns="0" bIns="0" rtlCol="0">
            <a:spAutoFit/>
          </a:bodyPr>
          <a:lstStyle/>
          <a:p>
            <a:pPr marL="25400" algn="just">
              <a:spcBef>
                <a:spcPts val="100"/>
              </a:spcBef>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At each frame update, the system performs collision detection to determine if the snake’s head has come into contact with any restricted element. Three types of collisions are monitored: self-collision, where the snake’s head overlaps any part of its own body; boundary collision, where the snake moves beyond the visible screen edges; and obstacle collision, where the head strikes any static object placed in the environment during enhanced game modes. These conditions are detected through coordinate comparisons between the snake’s head position and other entities. When a collision is detected, a game-over flag is triggered, and OpenCV renders an overlay message displaying the player's final score, effectively ending the game loop and signaling the end of the session.</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25400">
              <a:lnSpc>
                <a:spcPct val="100000"/>
              </a:lnSpc>
              <a:spcBef>
                <a:spcPts val="100"/>
              </a:spcBef>
            </a:pPr>
            <a:endParaRPr sz="1600" dirty="0">
              <a:latin typeface="Times New Roman" panose="02020603050405020304" pitchFamily="18" charset="0"/>
              <a:cs typeface="Times New Roman" panose="02020603050405020304" pitchFamily="18" charset="0"/>
            </a:endParaRPr>
          </a:p>
        </p:txBody>
      </p:sp>
      <p:sp>
        <p:nvSpPr>
          <p:cNvPr id="63" name="object 63"/>
          <p:cNvSpPr txBox="1"/>
          <p:nvPr/>
        </p:nvSpPr>
        <p:spPr>
          <a:xfrm>
            <a:off x="15994909" y="5440129"/>
            <a:ext cx="3363595" cy="225062"/>
          </a:xfrm>
          <a:prstGeom prst="rect">
            <a:avLst/>
          </a:prstGeom>
        </p:spPr>
        <p:txBody>
          <a:bodyPr vert="horz" wrap="square" lIns="0" tIns="17145" rIns="0" bIns="0" rtlCol="0">
            <a:spAutoFit/>
          </a:bodyPr>
          <a:lstStyle/>
          <a:p>
            <a:pPr marL="12700">
              <a:lnSpc>
                <a:spcPct val="100000"/>
              </a:lnSpc>
              <a:spcBef>
                <a:spcPts val="135"/>
              </a:spcBef>
            </a:pPr>
            <a:r>
              <a:rPr lang="en-US" sz="1350" b="1" spc="80" dirty="0">
                <a:solidFill>
                  <a:srgbClr val="EB0024"/>
                </a:solidFill>
                <a:latin typeface="Times New Roman" panose="02020603050405020304" pitchFamily="18" charset="0"/>
                <a:cs typeface="Times New Roman" panose="02020603050405020304" pitchFamily="18" charset="0"/>
              </a:rPr>
              <a:t>Visual Feedback</a:t>
            </a:r>
            <a:endParaRPr sz="1350" dirty="0">
              <a:latin typeface="Times New Roman" panose="02020603050405020304" pitchFamily="18" charset="0"/>
              <a:cs typeface="Times New Roman" panose="02020603050405020304" pitchFamily="18" charset="0"/>
            </a:endParaRPr>
          </a:p>
        </p:txBody>
      </p:sp>
      <p:sp>
        <p:nvSpPr>
          <p:cNvPr id="64" name="object 64"/>
          <p:cNvSpPr/>
          <p:nvPr/>
        </p:nvSpPr>
        <p:spPr>
          <a:xfrm>
            <a:off x="13669563" y="5742663"/>
            <a:ext cx="6031865" cy="0"/>
          </a:xfrm>
          <a:custGeom>
            <a:avLst/>
            <a:gdLst/>
            <a:ahLst/>
            <a:cxnLst/>
            <a:rect l="l" t="t" r="r" b="b"/>
            <a:pathLst>
              <a:path w="6031865">
                <a:moveTo>
                  <a:pt x="0" y="0"/>
                </a:moveTo>
                <a:lnTo>
                  <a:pt x="6031291" y="0"/>
                </a:lnTo>
              </a:path>
            </a:pathLst>
          </a:custGeom>
          <a:ln w="4604">
            <a:solidFill>
              <a:srgbClr val="000000"/>
            </a:solidFill>
          </a:ln>
        </p:spPr>
        <p:txBody>
          <a:bodyPr wrap="square" lIns="0" tIns="0" rIns="0" bIns="0" rtlCol="0"/>
          <a:lstStyle/>
          <a:p>
            <a:endParaRPr/>
          </a:p>
        </p:txBody>
      </p:sp>
      <p:sp>
        <p:nvSpPr>
          <p:cNvPr id="70" name="object 70"/>
          <p:cNvSpPr txBox="1"/>
          <p:nvPr/>
        </p:nvSpPr>
        <p:spPr>
          <a:xfrm>
            <a:off x="13617734" y="7825047"/>
            <a:ext cx="6057265" cy="2550698"/>
          </a:xfrm>
          <a:prstGeom prst="rect">
            <a:avLst/>
          </a:prstGeom>
        </p:spPr>
        <p:txBody>
          <a:bodyPr vert="horz" wrap="square" lIns="0" tIns="11430" rIns="0" bIns="0" rtlCol="0">
            <a:spAutoFit/>
          </a:bodyPr>
          <a:lstStyle/>
          <a:p>
            <a:pPr algn="just">
              <a:spcAft>
                <a:spcPts val="1200"/>
              </a:spcAft>
            </a:pPr>
            <a:r>
              <a:rPr lang="en-US" sz="1500" dirty="0">
                <a:effectLst/>
                <a:latin typeface="Times New Roman" panose="02020603050405020304" pitchFamily="18" charset="0"/>
                <a:ea typeface="Calibri" panose="020F0502020204030204" pitchFamily="34" charset="0"/>
              </a:rPr>
              <a:t>The game visuals are entirely rendered using OpenCV, eliminating the need for any external game engines. Each segment of the snake is drawn in real-time using cv2.circle(), while text overlays such as the current score or "Game Over" message are displayed using cv2.putText(). Unlike primitive shapes, the food item is displayed using a preloaded image, which adds visual detail and enhances the game’s appearance. The game frame is continuously updated and displayed using OpenCV’s cv2.imshow() function. In addition to gameplay visuals, an optional debugging window can display hand tracking overlays with detected landmarks, offering real-time visual feedback on gesture accuracy. This approach ensures efficient rendering while maintaining a clean and interactive user interface.</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74" name="object 74"/>
          <p:cNvGrpSpPr/>
          <p:nvPr/>
        </p:nvGrpSpPr>
        <p:grpSpPr>
          <a:xfrm>
            <a:off x="0" y="11586006"/>
            <a:ext cx="20104100" cy="476884"/>
            <a:chOff x="0" y="11586006"/>
            <a:chExt cx="20104100" cy="476884"/>
          </a:xfrm>
        </p:grpSpPr>
        <p:sp>
          <p:nvSpPr>
            <p:cNvPr id="75" name="object 75"/>
            <p:cNvSpPr/>
            <p:nvPr/>
          </p:nvSpPr>
          <p:spPr>
            <a:xfrm>
              <a:off x="0" y="11586006"/>
              <a:ext cx="20104100" cy="476884"/>
            </a:xfrm>
            <a:custGeom>
              <a:avLst/>
              <a:gdLst/>
              <a:ahLst/>
              <a:cxnLst/>
              <a:rect l="l" t="t" r="r" b="b"/>
              <a:pathLst>
                <a:path w="20104100" h="476884">
                  <a:moveTo>
                    <a:pt x="20104099" y="0"/>
                  </a:moveTo>
                  <a:lnTo>
                    <a:pt x="0" y="0"/>
                  </a:lnTo>
                  <a:lnTo>
                    <a:pt x="0" y="476453"/>
                  </a:lnTo>
                  <a:lnTo>
                    <a:pt x="20104099" y="476453"/>
                  </a:lnTo>
                  <a:lnTo>
                    <a:pt x="20104099" y="0"/>
                  </a:lnTo>
                  <a:close/>
                </a:path>
              </a:pathLst>
            </a:custGeom>
            <a:solidFill>
              <a:srgbClr val="EB0024"/>
            </a:solidFill>
          </p:spPr>
          <p:txBody>
            <a:bodyPr wrap="square" lIns="0" tIns="0" rIns="0" bIns="0" rtlCol="0"/>
            <a:lstStyle/>
            <a:p>
              <a:endParaRPr/>
            </a:p>
          </p:txBody>
        </p:sp>
        <p:sp>
          <p:nvSpPr>
            <p:cNvPr id="76" name="object 76"/>
            <p:cNvSpPr/>
            <p:nvPr/>
          </p:nvSpPr>
          <p:spPr>
            <a:xfrm>
              <a:off x="0" y="11586006"/>
              <a:ext cx="20104100" cy="38735"/>
            </a:xfrm>
            <a:custGeom>
              <a:avLst/>
              <a:gdLst/>
              <a:ahLst/>
              <a:cxnLst/>
              <a:rect l="l" t="t" r="r" b="b"/>
              <a:pathLst>
                <a:path w="20104100" h="38734">
                  <a:moveTo>
                    <a:pt x="20104099" y="0"/>
                  </a:moveTo>
                  <a:lnTo>
                    <a:pt x="0" y="0"/>
                  </a:lnTo>
                  <a:lnTo>
                    <a:pt x="0" y="38162"/>
                  </a:lnTo>
                  <a:lnTo>
                    <a:pt x="20104099" y="38162"/>
                  </a:lnTo>
                  <a:lnTo>
                    <a:pt x="20104099" y="0"/>
                  </a:lnTo>
                  <a:close/>
                </a:path>
              </a:pathLst>
            </a:custGeom>
            <a:solidFill>
              <a:srgbClr val="FFC138"/>
            </a:solidFill>
          </p:spPr>
          <p:txBody>
            <a:bodyPr wrap="square" lIns="0" tIns="0" rIns="0" bIns="0" rtlCol="0"/>
            <a:lstStyle/>
            <a:p>
              <a:endParaRPr/>
            </a:p>
          </p:txBody>
        </p:sp>
      </p:grpSp>
      <p:sp>
        <p:nvSpPr>
          <p:cNvPr id="77" name="object 77"/>
          <p:cNvSpPr txBox="1"/>
          <p:nvPr/>
        </p:nvSpPr>
        <p:spPr>
          <a:xfrm>
            <a:off x="601851" y="11756103"/>
            <a:ext cx="1822450" cy="201295"/>
          </a:xfrm>
          <a:prstGeom prst="rect">
            <a:avLst/>
          </a:prstGeom>
        </p:spPr>
        <p:txBody>
          <a:bodyPr vert="horz" wrap="square" lIns="0" tIns="12700" rIns="0" bIns="0" rtlCol="0">
            <a:spAutoFit/>
          </a:bodyPr>
          <a:lstStyle/>
          <a:p>
            <a:pPr marL="12700">
              <a:lnSpc>
                <a:spcPct val="100000"/>
              </a:lnSpc>
              <a:spcBef>
                <a:spcPts val="100"/>
              </a:spcBef>
            </a:pPr>
            <a:r>
              <a:rPr sz="1150" dirty="0">
                <a:solidFill>
                  <a:srgbClr val="FFFFFF"/>
                </a:solidFill>
                <a:latin typeface="Trebuchet MS"/>
                <a:cs typeface="Trebuchet MS"/>
                <a:hlinkClick r:id="rId3"/>
              </a:rPr>
              <a:t>Github:</a:t>
            </a:r>
            <a:r>
              <a:rPr sz="1150" spc="-75" dirty="0">
                <a:solidFill>
                  <a:srgbClr val="FFFFFF"/>
                </a:solidFill>
                <a:latin typeface="Trebuchet MS"/>
                <a:cs typeface="Trebuchet MS"/>
                <a:hlinkClick r:id="rId3"/>
              </a:rPr>
              <a:t> </a:t>
            </a:r>
            <a:r>
              <a:rPr sz="1150" spc="-10" dirty="0">
                <a:solidFill>
                  <a:srgbClr val="FFFFFF"/>
                </a:solidFill>
                <a:latin typeface="Trebuchet MS"/>
                <a:cs typeface="Trebuchet MS"/>
                <a:hlinkClick r:id="rId3"/>
              </a:rPr>
              <a:t>https://github.com</a:t>
            </a:r>
            <a:endParaRPr sz="1150">
              <a:latin typeface="Trebuchet MS"/>
              <a:cs typeface="Trebuchet MS"/>
            </a:endParaRPr>
          </a:p>
        </p:txBody>
      </p:sp>
      <p:sp>
        <p:nvSpPr>
          <p:cNvPr id="78" name="object 78"/>
          <p:cNvSpPr txBox="1"/>
          <p:nvPr/>
        </p:nvSpPr>
        <p:spPr>
          <a:xfrm>
            <a:off x="9715591" y="11756103"/>
            <a:ext cx="1014730" cy="201295"/>
          </a:xfrm>
          <a:prstGeom prst="rect">
            <a:avLst/>
          </a:prstGeom>
        </p:spPr>
        <p:txBody>
          <a:bodyPr vert="horz" wrap="square" lIns="0" tIns="12700" rIns="0" bIns="0" rtlCol="0">
            <a:spAutoFit/>
          </a:bodyPr>
          <a:lstStyle/>
          <a:p>
            <a:pPr marL="12700">
              <a:lnSpc>
                <a:spcPct val="100000"/>
              </a:lnSpc>
              <a:spcBef>
                <a:spcPts val="100"/>
              </a:spcBef>
            </a:pPr>
            <a:r>
              <a:rPr sz="1150" dirty="0">
                <a:solidFill>
                  <a:srgbClr val="FFFFFF"/>
                </a:solidFill>
                <a:latin typeface="Trebuchet MS"/>
                <a:cs typeface="Trebuchet MS"/>
              </a:rPr>
              <a:t>Poster</a:t>
            </a:r>
            <a:r>
              <a:rPr sz="1150" spc="70" dirty="0">
                <a:solidFill>
                  <a:srgbClr val="FFFFFF"/>
                </a:solidFill>
                <a:latin typeface="Trebuchet MS"/>
                <a:cs typeface="Trebuchet MS"/>
              </a:rPr>
              <a:t> </a:t>
            </a:r>
            <a:r>
              <a:rPr sz="1150" spc="50" dirty="0">
                <a:solidFill>
                  <a:srgbClr val="FFFFFF"/>
                </a:solidFill>
                <a:latin typeface="Trebuchet MS"/>
                <a:cs typeface="Trebuchet MS"/>
              </a:rPr>
              <a:t>Session</a:t>
            </a:r>
            <a:endParaRPr sz="1150">
              <a:latin typeface="Trebuchet MS"/>
              <a:cs typeface="Trebuchet MS"/>
            </a:endParaRPr>
          </a:p>
        </p:txBody>
      </p:sp>
      <p:sp>
        <p:nvSpPr>
          <p:cNvPr id="79" name="object 79"/>
          <p:cNvSpPr txBox="1"/>
          <p:nvPr/>
        </p:nvSpPr>
        <p:spPr>
          <a:xfrm>
            <a:off x="18021692" y="11756103"/>
            <a:ext cx="1555750" cy="201295"/>
          </a:xfrm>
          <a:prstGeom prst="rect">
            <a:avLst/>
          </a:prstGeom>
        </p:spPr>
        <p:txBody>
          <a:bodyPr vert="horz" wrap="square" lIns="0" tIns="12700" rIns="0" bIns="0" rtlCol="0">
            <a:spAutoFit/>
          </a:bodyPr>
          <a:lstStyle/>
          <a:p>
            <a:pPr marL="12700">
              <a:lnSpc>
                <a:spcPct val="100000"/>
              </a:lnSpc>
              <a:spcBef>
                <a:spcPts val="100"/>
              </a:spcBef>
            </a:pPr>
            <a:r>
              <a:rPr sz="1150" spc="-10" dirty="0">
                <a:solidFill>
                  <a:srgbClr val="FFFFFF"/>
                </a:solidFill>
                <a:latin typeface="Trebuchet MS"/>
                <a:cs typeface="Trebuchet MS"/>
                <a:hlinkClick r:id="rId4"/>
              </a:rPr>
              <a:t>youremail@iastate.edu</a:t>
            </a:r>
            <a:endParaRPr sz="1150">
              <a:latin typeface="Trebuchet MS"/>
              <a:cs typeface="Trebuchet MS"/>
            </a:endParaRPr>
          </a:p>
        </p:txBody>
      </p:sp>
      <p:sp>
        <p:nvSpPr>
          <p:cNvPr id="81" name="TextBox 80">
            <a:extLst>
              <a:ext uri="{FF2B5EF4-FFF2-40B4-BE49-F238E27FC236}">
                <a16:creationId xmlns:a16="http://schemas.microsoft.com/office/drawing/2014/main" id="{073A057A-FB3F-C8D9-8F6B-0CD31E2BBCCC}"/>
              </a:ext>
            </a:extLst>
          </p:cNvPr>
          <p:cNvSpPr txBox="1"/>
          <p:nvPr/>
        </p:nvSpPr>
        <p:spPr>
          <a:xfrm>
            <a:off x="209292" y="2091069"/>
            <a:ext cx="6545096" cy="3231654"/>
          </a:xfrm>
          <a:prstGeom prst="rect">
            <a:avLst/>
          </a:prstGeom>
          <a:noFill/>
        </p:spPr>
        <p:txBody>
          <a:bodyPr wrap="square">
            <a:spAutoFit/>
          </a:bodyPr>
          <a:lstStyle/>
          <a:p>
            <a:pPr algn="just"/>
            <a:r>
              <a:rPr lang="en-US" sz="1700" dirty="0">
                <a:latin typeface="Times New Roman" panose="02020603050405020304" pitchFamily="18" charset="0"/>
                <a:cs typeface="Times New Roman" panose="02020603050405020304" pitchFamily="18" charset="0"/>
              </a:rPr>
              <a:t>The evolution of human-computer interaction (HCI) has shifted from traditional keyboard and mouse inputs to more natural and immersive modalities like gesture control. In this project, we explore the integration of real-time hand tracking into a familiar and iconic game—the classic Snake. By replacing physical inputs with webcam-based gesture recognition, we create a contactless, intuitive interaction model where players control the snake using simple hand movements. This approach not only modernizes the gameplay experience but also showcases the potential of computer vision and gesture-based interfaces in broader applications. The project demonstrates how tools like OpenCV, </a:t>
            </a:r>
            <a:r>
              <a:rPr lang="en-US" sz="1700" dirty="0" err="1">
                <a:latin typeface="Times New Roman" panose="02020603050405020304" pitchFamily="18" charset="0"/>
                <a:cs typeface="Times New Roman" panose="02020603050405020304" pitchFamily="18" charset="0"/>
              </a:rPr>
              <a:t>MediaPipe</a:t>
            </a:r>
            <a:r>
              <a:rPr lang="en-US" sz="1700" dirty="0">
                <a:latin typeface="Times New Roman" panose="02020603050405020304" pitchFamily="18" charset="0"/>
                <a:cs typeface="Times New Roman" panose="02020603050405020304" pitchFamily="18" charset="0"/>
              </a:rPr>
              <a:t>, and </a:t>
            </a:r>
            <a:r>
              <a:rPr lang="en-US" sz="1700" dirty="0" err="1">
                <a:latin typeface="Times New Roman" panose="02020603050405020304" pitchFamily="18" charset="0"/>
                <a:cs typeface="Times New Roman" panose="02020603050405020304" pitchFamily="18" charset="0"/>
              </a:rPr>
              <a:t>CVZone</a:t>
            </a:r>
            <a:r>
              <a:rPr lang="en-US" sz="1700" dirty="0">
                <a:latin typeface="Times New Roman" panose="02020603050405020304" pitchFamily="18" charset="0"/>
                <a:cs typeface="Times New Roman" panose="02020603050405020304" pitchFamily="18" charset="0"/>
              </a:rPr>
              <a:t> can be combined to develop responsive, immersive</a:t>
            </a:r>
            <a:r>
              <a:rPr lang="en-US" sz="1700" dirty="0"/>
              <a:t>, and user-friendly interaction systems.</a:t>
            </a:r>
            <a:endParaRPr lang="en-IN" sz="1700" dirty="0"/>
          </a:p>
        </p:txBody>
      </p:sp>
      <p:pic>
        <p:nvPicPr>
          <p:cNvPr id="82" name="Picture 81">
            <a:extLst>
              <a:ext uri="{FF2B5EF4-FFF2-40B4-BE49-F238E27FC236}">
                <a16:creationId xmlns:a16="http://schemas.microsoft.com/office/drawing/2014/main" id="{608CE2FF-BD16-1452-3FE7-D8AFDA60390F}"/>
              </a:ext>
            </a:extLst>
          </p:cNvPr>
          <p:cNvPicPr>
            <a:picLocks noChangeAspect="1"/>
          </p:cNvPicPr>
          <p:nvPr/>
        </p:nvPicPr>
        <p:blipFill>
          <a:blip r:embed="rId5"/>
          <a:stretch>
            <a:fillRect/>
          </a:stretch>
        </p:blipFill>
        <p:spPr>
          <a:xfrm>
            <a:off x="7036403" y="4961173"/>
            <a:ext cx="6214683" cy="2142605"/>
          </a:xfrm>
          <a:prstGeom prst="rect">
            <a:avLst/>
          </a:prstGeom>
        </p:spPr>
      </p:pic>
      <p:pic>
        <p:nvPicPr>
          <p:cNvPr id="84" name="Picture 83">
            <a:extLst>
              <a:ext uri="{FF2B5EF4-FFF2-40B4-BE49-F238E27FC236}">
                <a16:creationId xmlns:a16="http://schemas.microsoft.com/office/drawing/2014/main" id="{D794AA08-EBD5-6EAE-33BE-5A660E947265}"/>
              </a:ext>
            </a:extLst>
          </p:cNvPr>
          <p:cNvPicPr>
            <a:picLocks noChangeAspect="1"/>
          </p:cNvPicPr>
          <p:nvPr/>
        </p:nvPicPr>
        <p:blipFill>
          <a:blip r:embed="rId6"/>
          <a:stretch>
            <a:fillRect/>
          </a:stretch>
        </p:blipFill>
        <p:spPr>
          <a:xfrm>
            <a:off x="114112" y="6257822"/>
            <a:ext cx="6545096" cy="786804"/>
          </a:xfrm>
          <a:prstGeom prst="rect">
            <a:avLst/>
          </a:prstGeom>
        </p:spPr>
      </p:pic>
      <p:sp>
        <p:nvSpPr>
          <p:cNvPr id="94" name="TextBox 93">
            <a:extLst>
              <a:ext uri="{FF2B5EF4-FFF2-40B4-BE49-F238E27FC236}">
                <a16:creationId xmlns:a16="http://schemas.microsoft.com/office/drawing/2014/main" id="{C9690986-F9D6-CBF3-295B-2AABC4F3C12A}"/>
              </a:ext>
            </a:extLst>
          </p:cNvPr>
          <p:cNvSpPr txBox="1"/>
          <p:nvPr/>
        </p:nvSpPr>
        <p:spPr>
          <a:xfrm>
            <a:off x="6648222" y="7807580"/>
            <a:ext cx="6909328" cy="2631490"/>
          </a:xfrm>
          <a:prstGeom prst="rect">
            <a:avLst/>
          </a:prstGeom>
          <a:noFill/>
        </p:spPr>
        <p:txBody>
          <a:bodyPr wrap="square">
            <a:spAutoFit/>
          </a:bodyPr>
          <a:lstStyle/>
          <a:p>
            <a:pPr algn="just">
              <a:spcAft>
                <a:spcPts val="1200"/>
              </a:spcAft>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When the food is detected as "eaten," the system performs three key actions: it generates a new food position on the screen, increments the player's score, and increases the snake's length. The snake is internally managed as a list of coordinate pairs, where each element represents one segment of the snake’s body (</a:t>
            </a:r>
            <a:r>
              <a:rPr lang="en-US" sz="1500" dirty="0" err="1">
                <a:effectLst/>
                <a:latin typeface="Times New Roman" panose="02020603050405020304" pitchFamily="18" charset="0"/>
                <a:ea typeface="Calibri" panose="020F0502020204030204" pitchFamily="34" charset="0"/>
                <a:cs typeface="Times New Roman" panose="02020603050405020304" pitchFamily="18" charset="0"/>
              </a:rPr>
              <a:t>snake_list</a:t>
            </a: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 = [[x1, y1], [x2, y2], ...]). On each frame update, a new head segment—based on the snake’s direction—is inserted at the beginning of the list. If no food has been consumed, the last segment (the tail) is removed to maintain a constant length. However, when food is consumed, this tail removal step is skipped, causing the snake to grow naturally. This logic ensures consistent behavior while enabling responsive and visually smooth growth directly tied to player input, reinforcing the connection between gesture actions and in-game outcomes.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8" name="Image 10">
            <a:extLst>
              <a:ext uri="{FF2B5EF4-FFF2-40B4-BE49-F238E27FC236}">
                <a16:creationId xmlns:a16="http://schemas.microsoft.com/office/drawing/2014/main" id="{56E41922-2E2D-17DB-ABE7-A08DC457DB6E}"/>
              </a:ext>
            </a:extLst>
          </p:cNvPr>
          <p:cNvPicPr>
            <a:picLocks/>
          </p:cNvPicPr>
          <p:nvPr/>
        </p:nvPicPr>
        <p:blipFill>
          <a:blip r:embed="rId7" cstate="print"/>
          <a:stretch>
            <a:fillRect/>
          </a:stretch>
        </p:blipFill>
        <p:spPr>
          <a:xfrm>
            <a:off x="13753066" y="5816464"/>
            <a:ext cx="5864860" cy="1796415"/>
          </a:xfrm>
          <a:prstGeom prst="rect">
            <a:avLst/>
          </a:prstGeom>
        </p:spPr>
      </p:pic>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111</TotalTime>
  <Words>877</Words>
  <Application>Microsoft Office PowerPoint</Application>
  <PresentationFormat>Custom</PresentationFormat>
  <Paragraphs>27</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Cambria</vt:lpstr>
      <vt:lpstr>Tahoma</vt:lpstr>
      <vt:lpstr>Times New Roman</vt:lpstr>
      <vt:lpstr>Trebuchet MS</vt:lpstr>
      <vt:lpstr>Office Theme</vt:lpstr>
      <vt:lpstr>           Vitrtual Snake Game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fancy title: followed by more text</dc:title>
  <dc:creator>Name1 , Name2 , Name3 </dc:creator>
  <cp:lastModifiedBy>Shounak Powar</cp:lastModifiedBy>
  <cp:revision>3</cp:revision>
  <dcterms:created xsi:type="dcterms:W3CDTF">2025-05-06T13:50:15Z</dcterms:created>
  <dcterms:modified xsi:type="dcterms:W3CDTF">2025-05-06T15:42:12Z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2023-07-01T00:00:00Z</vt:filetime>
  </property>
  <property fmtid="{D5CDD505-2E9C-101B-9397-08002B2CF9AE}" pid="3" name="Creator">
    <vt:lpwstr>LaTeX with Beamer class</vt:lpwstr>
  </property>
  <property fmtid="{D5CDD505-2E9C-101B-9397-08002B2CF9AE}" pid="4" name="LastSaved">
    <vt:filetime>2025-05-06T00:00:00Z</vt:filetime>
  </property>
  <property fmtid="{D5CDD505-2E9C-101B-9397-08002B2CF9AE}" pid="5" name="PTEX.FullBanner">
    <vt:lpwstr>This is LuaHBTeX, Version 1.15.0 (TeX Live 2022)</vt:lpwstr>
  </property>
  <property fmtid="{D5CDD505-2E9C-101B-9397-08002B2CF9AE}" pid="6" name="Producer">
    <vt:lpwstr>LuaTeX-1.15.0</vt:lpwstr>
  </property>
</Properties>
</file>